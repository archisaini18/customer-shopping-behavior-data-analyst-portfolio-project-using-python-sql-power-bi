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75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3,900 purchases to guide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660684"/>
            <a:ext cx="121408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1728668"/>
            <a:ext cx="9419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1776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333994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3.9K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6280190" y="437173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80190" y="4862155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analyzed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893493" y="333994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8893493" y="437173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893493" y="4862155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per customer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506795" y="333994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11506795" y="437173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506795" y="4862155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segments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280190" y="584311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spending patterns, customer segments, and subscription behavior across demographics and product preferences.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218D01-A90D-BA1A-30EF-BC13141EAC50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8904"/>
            <a:ext cx="199227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34509"/>
            <a:ext cx="17048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911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at a Glance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40054"/>
            <a:ext cx="2411968" cy="2411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03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Demographics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52592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location, subscription status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340054"/>
            <a:ext cx="2411968" cy="24119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503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52592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Item, category, amount, season, size, color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340054"/>
            <a:ext cx="2411968" cy="24119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503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Shopping Behavior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552592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Discounts, reviews, frequency, shipping preferences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6506885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850975"/>
            <a:ext cx="283488" cy="2268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30906" y="679037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37 missing values in Review Rating column—imputed using category medians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AB16DB-59D5-4037-9B61-C5B71205A777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471" y="706160"/>
            <a:ext cx="1187648" cy="372547"/>
          </a:xfrm>
          <a:prstGeom prst="roundRect">
            <a:avLst>
              <a:gd name="adj" fmla="val 18489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462" y="810458"/>
            <a:ext cx="163949" cy="163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6326" y="767596"/>
            <a:ext cx="69580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7471" y="1152763"/>
            <a:ext cx="6339364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Process</a:t>
            </a:r>
            <a:endParaRPr lang="en-US" sz="4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71" y="2667357"/>
            <a:ext cx="8402003" cy="37808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83128" y="2833223"/>
            <a:ext cx="1470323" cy="22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983128" y="3125066"/>
            <a:ext cx="1470323" cy="34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CSVs and tables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9493" y="3854421"/>
            <a:ext cx="325672" cy="3256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37293" y="5555239"/>
            <a:ext cx="1478401" cy="45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Structure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437293" y="6074295"/>
            <a:ext cx="1478401" cy="34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columns and types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13658" y="5041989"/>
            <a:ext cx="325672" cy="3256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5301" y="2804947"/>
            <a:ext cx="1470322" cy="22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Handle Missing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5301" y="3096790"/>
            <a:ext cx="1470322" cy="34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 or drop values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75902" y="3822106"/>
            <a:ext cx="325672" cy="3256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29467" y="5555239"/>
            <a:ext cx="1470323" cy="45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329467" y="6074295"/>
            <a:ext cx="1470323" cy="34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groups and metrics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05831" y="5041989"/>
            <a:ext cx="325673" cy="32567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7471" y="6656546"/>
            <a:ext cx="840200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approach ensuring data quality and consistency for analysis.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9627156" y="2279571"/>
            <a:ext cx="4293275" cy="1554956"/>
          </a:xfrm>
          <a:prstGeom prst="roundRect">
            <a:avLst>
              <a:gd name="adj" fmla="val 55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9839682" y="2492097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Cleaning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9839682" y="2997637"/>
            <a:ext cx="3868222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columns, imputed missing ratings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9627156" y="4019788"/>
            <a:ext cx="4293275" cy="1554956"/>
          </a:xfrm>
          <a:prstGeom prst="roundRect">
            <a:avLst>
              <a:gd name="adj" fmla="val 55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9839682" y="4232315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</a:t>
            </a:r>
            <a:endParaRPr lang="en-US" sz="2000" dirty="0"/>
          </a:p>
        </p:txBody>
      </p:sp>
      <p:sp>
        <p:nvSpPr>
          <p:cNvPr id="25" name="Text 17"/>
          <p:cNvSpPr/>
          <p:nvPr/>
        </p:nvSpPr>
        <p:spPr>
          <a:xfrm>
            <a:off x="9839682" y="4737854"/>
            <a:ext cx="3868222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 groups and frequency metrics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9627156" y="5760006"/>
            <a:ext cx="4293275" cy="1554956"/>
          </a:xfrm>
          <a:prstGeom prst="roundRect">
            <a:avLst>
              <a:gd name="adj" fmla="val 55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839682" y="5972532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9839682" y="6478072"/>
            <a:ext cx="3868222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into PostgreSQL for SQL analysis</a:t>
            </a: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F54E27-EA79-B3F8-963C-58D0887C402A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59341" y="699373"/>
            <a:ext cx="1560314" cy="342543"/>
          </a:xfrm>
          <a:prstGeom prst="roundRect">
            <a:avLst>
              <a:gd name="adj" fmla="val 18861"/>
            </a:avLst>
          </a:prstGeom>
          <a:solidFill>
            <a:srgbClr val="DADBF1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4713" y="793671"/>
            <a:ext cx="153829" cy="1538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05456" y="756999"/>
            <a:ext cx="1098828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59341" y="1107043"/>
            <a:ext cx="5140404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Business Insights</a:t>
            </a:r>
            <a:endParaRPr lang="en-US" sz="3750" dirty="0"/>
          </a:p>
        </p:txBody>
      </p:sp>
      <p:sp>
        <p:nvSpPr>
          <p:cNvPr id="7" name="Text 3"/>
          <p:cNvSpPr/>
          <p:nvPr/>
        </p:nvSpPr>
        <p:spPr>
          <a:xfrm>
            <a:off x="6159341" y="1952387"/>
            <a:ext cx="19228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159341" y="2256234"/>
            <a:ext cx="779811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5"/>
          <p:cNvSpPr/>
          <p:nvPr/>
        </p:nvSpPr>
        <p:spPr>
          <a:xfrm>
            <a:off x="6159341" y="2398038"/>
            <a:ext cx="240351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159341" y="2796183"/>
            <a:ext cx="7798117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customers: $157K vs Female: $75K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159341" y="3387566"/>
            <a:ext cx="19228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59341" y="3691414"/>
            <a:ext cx="779811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9"/>
          <p:cNvSpPr/>
          <p:nvPr/>
        </p:nvSpPr>
        <p:spPr>
          <a:xfrm>
            <a:off x="6159341" y="3833217"/>
            <a:ext cx="315896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High-Value Discount Users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6159341" y="4231362"/>
            <a:ext cx="7798117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customers spent above average despite discounts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159341" y="4822746"/>
            <a:ext cx="19228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59341" y="5126593"/>
            <a:ext cx="779811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3"/>
          <p:cNvSpPr/>
          <p:nvPr/>
        </p:nvSpPr>
        <p:spPr>
          <a:xfrm>
            <a:off x="6159341" y="5268397"/>
            <a:ext cx="240351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6159341" y="5666542"/>
            <a:ext cx="7798117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 (3.86), Sandals (3.84), Boots (3.82) highest rated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159341" y="6257925"/>
            <a:ext cx="19228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159341" y="6561772"/>
            <a:ext cx="779811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7"/>
          <p:cNvSpPr/>
          <p:nvPr/>
        </p:nvSpPr>
        <p:spPr>
          <a:xfrm>
            <a:off x="6159341" y="6703576"/>
            <a:ext cx="252650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Preferences</a:t>
            </a:r>
            <a:endParaRPr lang="en-US" sz="1850" dirty="0"/>
          </a:p>
        </p:txBody>
      </p:sp>
      <p:sp>
        <p:nvSpPr>
          <p:cNvPr id="22" name="Text 18"/>
          <p:cNvSpPr/>
          <p:nvPr/>
        </p:nvSpPr>
        <p:spPr>
          <a:xfrm>
            <a:off x="6159341" y="7101721"/>
            <a:ext cx="7798117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($60.48) vs Standard ($58.46) average spend</a:t>
            </a:r>
            <a:endParaRPr lang="en-US" sz="1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B246C2-3C16-58DD-D0C0-F40D12919063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301" y="324564"/>
            <a:ext cx="4098965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Impact Analysis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301" y="798552"/>
            <a:ext cx="7909798" cy="42843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13778" y="5113377"/>
            <a:ext cx="114538" cy="114538"/>
          </a:xfrm>
          <a:prstGeom prst="roundRect">
            <a:avLst>
              <a:gd name="adj" fmla="val 15967"/>
            </a:avLst>
          </a:prstGeom>
          <a:solidFill>
            <a:srgbClr val="151738"/>
          </a:solidFill>
          <a:ln/>
        </p:spPr>
      </p:sp>
      <p:sp>
        <p:nvSpPr>
          <p:cNvPr id="5" name="Text 2"/>
          <p:cNvSpPr/>
          <p:nvPr/>
        </p:nvSpPr>
        <p:spPr>
          <a:xfrm>
            <a:off x="6589276" y="5113377"/>
            <a:ext cx="649724" cy="11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91400" y="5113377"/>
            <a:ext cx="114538" cy="114538"/>
          </a:xfrm>
          <a:prstGeom prst="roundRect">
            <a:avLst>
              <a:gd name="adj" fmla="val 15967"/>
            </a:avLst>
          </a:prstGeom>
          <a:solidFill>
            <a:srgbClr val="4C53BD"/>
          </a:solidFill>
          <a:ln/>
        </p:spPr>
      </p:sp>
      <p:sp>
        <p:nvSpPr>
          <p:cNvPr id="7" name="Text 4"/>
          <p:cNvSpPr/>
          <p:nvPr/>
        </p:nvSpPr>
        <p:spPr>
          <a:xfrm>
            <a:off x="7566898" y="5113377"/>
            <a:ext cx="925116" cy="11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360301" y="5314831"/>
            <a:ext cx="229266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27% Subscribe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14505" y="6433185"/>
            <a:ext cx="140993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$59.49</a:t>
            </a:r>
            <a:endParaRPr lang="en-US" sz="2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843" y="5716786"/>
            <a:ext cx="1719501" cy="17195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3194" y="7522726"/>
            <a:ext cx="143291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 Spend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605599" y="6433185"/>
            <a:ext cx="1409938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$59.87</a:t>
            </a:r>
            <a:endParaRPr lang="en-US" sz="2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937" y="5716786"/>
            <a:ext cx="1719501" cy="17195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7968" y="7522726"/>
            <a:ext cx="1605439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Non-Subscriber Spend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360301" y="7767042"/>
            <a:ext cx="7909798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 spending patterns, but subscribers generate $62.6K total revenue vs $170.4K from larger non-subscriber base.</a:t>
            </a:r>
            <a:endParaRPr lang="en-US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052CDA-EECB-A50F-BFEE-F47AB6148BA6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67370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062883"/>
            <a:ext cx="42051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80% Loyal Base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9638943" y="3856672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retention with 3,116 loyal customers. Opportunity to convert 701 returning customers into loyal segment.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512356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repeat buyers (&gt;5 purchases) show higher subscription rates.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407FC3-9525-B001-DA62-35BBD373FD90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884057"/>
            <a:ext cx="1669018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4006453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3952042"/>
            <a:ext cx="11246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4401026"/>
            <a:ext cx="61481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Visualization</a:t>
            </a:r>
            <a:endParaRPr lang="en-US" sz="4450" dirty="0"/>
          </a:p>
        </p:txBody>
      </p:sp>
      <p:sp>
        <p:nvSpPr>
          <p:cNvPr id="7" name="Shape 3"/>
          <p:cNvSpPr/>
          <p:nvPr/>
        </p:nvSpPr>
        <p:spPr>
          <a:xfrm>
            <a:off x="793790" y="5449967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1084" y="5707261"/>
            <a:ext cx="29671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Category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51084" y="619767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leads at $100K, followed by Accessories $70K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5449967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74256" y="5707261"/>
            <a:ext cx="33411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 Group Performance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4256" y="619767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contribute $62K, highest revenue segment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5449967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97427" y="5707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9897427" y="619767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 avg purchase, 3.75 avg rating across 3.9K customers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D2070F-77F5-4009-669F-CFD779726C40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580192"/>
            <a:ext cx="6819305" cy="659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 Strategy Insights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26" y="1754505"/>
            <a:ext cx="8369617" cy="5726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0251" y="2486144"/>
            <a:ext cx="4219813" cy="52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50% Discount Rate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9630251" y="3209806"/>
            <a:ext cx="4269224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discount-dependent products: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0251" y="3712131"/>
            <a:ext cx="4269224" cy="162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Hats (50%)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 (49.66%)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Coats (49.07%)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Sweaters (48.17%)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 (47.37%)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30251" y="5517708"/>
            <a:ext cx="4269224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needed: 839 high-spenders use discounts but maintain above-average purchases.</a:t>
            </a:r>
            <a:endParaRPr lang="en-US" sz="16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8962CD-C95E-8308-5FA9-212C57D00DF4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43539"/>
            <a:ext cx="176784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76593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11523"/>
            <a:ext cx="12234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PLAN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60508"/>
            <a:ext cx="7826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09449"/>
            <a:ext cx="1055965" cy="10559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33243" y="3209449"/>
            <a:ext cx="170854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33243" y="4408527"/>
            <a:ext cx="17085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73% non-subscribers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5278" y="3209449"/>
            <a:ext cx="1055965" cy="10559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4731" y="3209449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64731" y="4054197"/>
            <a:ext cx="17086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701 returning buyers to move into loyal segment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884" y="3209449"/>
            <a:ext cx="1055965" cy="10559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96338" y="3209449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Discounts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796338" y="4054197"/>
            <a:ext cx="17086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50% discount rates while protecting margins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8491" y="3209449"/>
            <a:ext cx="1055965" cy="105596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127944" y="3209449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2127944" y="4054197"/>
            <a:ext cx="17086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Young Adults ($62K revenue) and express shipping users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27414E-1ACE-9128-CB0A-C73084D0F8FC}"/>
              </a:ext>
            </a:extLst>
          </p:cNvPr>
          <p:cNvSpPr/>
          <p:nvPr/>
        </p:nvSpPr>
        <p:spPr>
          <a:xfrm>
            <a:off x="12780084" y="7682746"/>
            <a:ext cx="173198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451</Words>
  <Application>Microsoft Office PowerPoint</Application>
  <PresentationFormat>Custom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Inter Light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Archi Saini</cp:lastModifiedBy>
  <cp:revision>2</cp:revision>
  <dcterms:created xsi:type="dcterms:W3CDTF">2026-01-30T17:07:02Z</dcterms:created>
  <dcterms:modified xsi:type="dcterms:W3CDTF">2026-01-31T06:41:30Z</dcterms:modified>
</cp:coreProperties>
</file>